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我是[你的姓名]。今天我将为大家汇报我的期末大作业——短视频脚本生成器。这个项目旨在解决当前短视频创作者在脚本创作中遇到的痛点，通过技术手段赋能内容创作。接下来，我将从项目概述、需求分析、系统设计、实现测试以及总结展望五个方面进行详细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本次答辩将围绕五个核心部分展开。首先是项目概述，介绍项目背景、目标和技术选型。接着是需求分析和系统设计。第四部分是系统实现与测试，最后是总结与展望。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首先我们来看项目背景。短视频创作已进入精细化阶段，但脚本创作对用户来说门槛高、效率低。因此，本项目旨在开发一款智能脚本生成器，通过集成AI、提供模板库和云端管理等功能，解决这些痛点。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在技术选型上，我们采用了一套轻量化的前后端分离架构。前端使用原生JavaScript，后端选用Python的Flask框架，数据库使用SQLite，UI框架采用Bootstrap，以实现高效开发和良好的用户体验。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在功能性需求方面，我们定义了用户注册登录、脚本生成、编辑、管理以及模板使用等核心用例，覆盖了用户从初次访问到深度使用的完整路径。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除了功能，我们还对非功能性需求进行了定义，包括性能、安全、兼容性、可用性和可维护性等方面，确保系统不仅功能完整，而且稳定、易用。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系统架构上，我们采用了经典的三层B/S架构。在模块划分上，我们将系统分解为用户管理、脚本生成等六大核心模块，各模块协同工作，构成了完整的系统功能。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数据库设计方面，我们设计了ER图来展示用户、脚本、模板等核心实体之间的关系。核心数据表包括用户表、脚本表、模板表等，用于存储用户信息、生成的脚本内容以及系统预设的模板。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系统的核心是智能脚本生成算法，它能自动完成从参数解析到脚本组装的全过程。此外，我们还设计了敏感词检测算法，通过字符串匹配确保生成内容的合规性。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这是我们系统的几个核心界面。创作页面实现了参数输入和结果展示的左右分栏布局。模板库页面提供了丰富的模板供用户选择。历史记录页面则方便用户管理自己的创作成果。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在测试阶段，我们设计了71个测试用例，覆盖了所有核心模块。测试结果显示，所有用例全部通过，功能覆盖率达到100%。我们共发现并修复了12个Bug。最终结论是，系统功能完整，运行稳定，测试通过。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来说，本项目全面完成了预定的六大目标。当然，项目也存在一些不足，比如缺乏单元测试、敏感词库有限等。未来，我们可以从引入自动化测试、扩充敏感词库、增加导出格式、集成更多AI模型以及进行性能优化等方面进行改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我的汇报到此结束，感谢各位老师和同学的聆听！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notesSlides/notesSlide2.xml" Type="http://schemas.openxmlformats.org/officeDocument/2006/relationships/notesSlid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18" Target="../notesSlides/notesSlide3.xml" Type="http://schemas.openxmlformats.org/officeDocument/2006/relationships/notesSlid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14" Target="../notesSlides/notesSlide4.xml" Type="http://schemas.openxmlformats.org/officeDocument/2006/relationships/notesSlid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12" Target="../notesSlides/notesSlide6.xml" Type="http://schemas.openxmlformats.org/officeDocument/2006/relationships/notesSlide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svg" Type="http://schemas.openxmlformats.org/officeDocument/2006/relationships/image"/><Relationship Id="rId12" Target="../media/image71.png" Type="http://schemas.openxmlformats.org/officeDocument/2006/relationships/image"/><Relationship Id="rId13" Target="../media/image72.svg" Type="http://schemas.openxmlformats.org/officeDocument/2006/relationships/image"/><Relationship Id="rId14" Target="../media/image73.png" Type="http://schemas.openxmlformats.org/officeDocument/2006/relationships/image"/><Relationship Id="rId15" Target="../media/image74.svg" Type="http://schemas.openxmlformats.org/officeDocument/2006/relationships/image"/><Relationship Id="rId16" Target="../media/image75.png" Type="http://schemas.openxmlformats.org/officeDocument/2006/relationships/image"/><Relationship Id="rId17" Target="../media/image76.svg" Type="http://schemas.openxmlformats.org/officeDocument/2006/relationships/image"/><Relationship Id="rId18" Target="../media/image77.png" Type="http://schemas.openxmlformats.org/officeDocument/2006/relationships/image"/><Relationship Id="rId19" Target="../media/image78.svg" Type="http://schemas.openxmlformats.org/officeDocument/2006/relationships/image"/><Relationship Id="rId2" Target="../media/image61.png" Type="http://schemas.openxmlformats.org/officeDocument/2006/relationships/image"/><Relationship Id="rId20" Target="../notesSlides/notesSlide7.xml" Type="http://schemas.openxmlformats.org/officeDocument/2006/relationships/notesSlide"/><Relationship Id="rId3" Target="../media/image62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media/image67.png" Type="http://schemas.openxmlformats.org/officeDocument/2006/relationships/image"/><Relationship Id="rId9" Target="../media/image6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9.png" Type="http://schemas.openxmlformats.org/officeDocument/2006/relationships/image"/><Relationship Id="rId3" Target="../media/image80.svg" Type="http://schemas.openxmlformats.org/officeDocument/2006/relationships/image"/><Relationship Id="rId4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9.png" Type="http://schemas.openxmlformats.org/officeDocument/2006/relationships/image"/><Relationship Id="rId11" Target="../media/image90.svg" Type="http://schemas.openxmlformats.org/officeDocument/2006/relationships/image"/><Relationship Id="rId12" Target="../media/image91.png" Type="http://schemas.openxmlformats.org/officeDocument/2006/relationships/image"/><Relationship Id="rId13" Target="../media/image92.svg" Type="http://schemas.openxmlformats.org/officeDocument/2006/relationships/image"/><Relationship Id="rId14" Target="../media/image93.png" Type="http://schemas.openxmlformats.org/officeDocument/2006/relationships/image"/><Relationship Id="rId15" Target="../media/image94.svg" Type="http://schemas.openxmlformats.org/officeDocument/2006/relationships/image"/><Relationship Id="rId16" Target="../notesSlides/notesSlide9.xml" Type="http://schemas.openxmlformats.org/officeDocument/2006/relationships/notesSlide"/><Relationship Id="rId2" Target="../media/image81.png" Type="http://schemas.openxmlformats.org/officeDocument/2006/relationships/image"/><Relationship Id="rId3" Target="../media/image82.svg" Type="http://schemas.openxmlformats.org/officeDocument/2006/relationships/image"/><Relationship Id="rId4" Target="../media/image83.png" Type="http://schemas.openxmlformats.org/officeDocument/2006/relationships/image"/><Relationship Id="rId5" Target="../media/image84.svg" Type="http://schemas.openxmlformats.org/officeDocument/2006/relationships/image"/><Relationship Id="rId6" Target="../media/image85.png" Type="http://schemas.openxmlformats.org/officeDocument/2006/relationships/image"/><Relationship Id="rId7" Target="../media/image86.svg" Type="http://schemas.openxmlformats.org/officeDocument/2006/relationships/image"/><Relationship Id="rId8" Target="../media/image87.png" Type="http://schemas.openxmlformats.org/officeDocument/2006/relationships/image"/><Relationship Id="rId9" Target="../media/image8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5.png" Type="http://schemas.openxmlformats.org/officeDocument/2006/relationships/image"/><Relationship Id="rId3" Target="../media/image96.svg" Type="http://schemas.openxmlformats.org/officeDocument/2006/relationships/image"/><Relationship Id="rId4" Target="../media/image97.png" Type="http://schemas.openxmlformats.org/officeDocument/2006/relationships/image"/><Relationship Id="rId5" Target="../media/image98.svg" Type="http://schemas.openxmlformats.org/officeDocument/2006/relationships/image"/><Relationship Id="rId6" Target="../media/image99.png" Type="http://schemas.openxmlformats.org/officeDocument/2006/relationships/image"/><Relationship Id="rId7" Target="../media/image100.svg" Type="http://schemas.openxmlformats.org/officeDocument/2006/relationships/image"/><Relationship Id="rId8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1.xml" Type="http://schemas.openxmlformats.org/officeDocument/2006/relationships/notesSlide"/><Relationship Id="rId2" Target="../media/image101.png" Type="http://schemas.openxmlformats.org/officeDocument/2006/relationships/image"/><Relationship Id="rId3" Target="../media/image102.svg" Type="http://schemas.openxmlformats.org/officeDocument/2006/relationships/image"/><Relationship Id="rId4" Target="../media/image103.png" Type="http://schemas.openxmlformats.org/officeDocument/2006/relationships/image"/><Relationship Id="rId5" Target="../media/image104.svg" Type="http://schemas.openxmlformats.org/officeDocument/2006/relationships/image"/><Relationship Id="rId6" Target="../media/image105.png" Type="http://schemas.openxmlformats.org/officeDocument/2006/relationships/image"/><Relationship Id="rId7" Target="../media/image106.svg" Type="http://schemas.openxmlformats.org/officeDocument/2006/relationships/image"/><Relationship Id="rId8" Target="../media/image107.png" Type="http://schemas.openxmlformats.org/officeDocument/2006/relationships/image"/><Relationship Id="rId9" Target="../media/image10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7.png" Type="http://schemas.openxmlformats.org/officeDocument/2006/relationships/image"/><Relationship Id="rId11" Target="../media/image118.svg" Type="http://schemas.openxmlformats.org/officeDocument/2006/relationships/image"/><Relationship Id="rId12" Target="../notesSlides/notesSlide12.xml" Type="http://schemas.openxmlformats.org/officeDocument/2006/relationships/notesSlide"/><Relationship Id="rId2" Target="../media/image109.png" Type="http://schemas.openxmlformats.org/officeDocument/2006/relationships/image"/><Relationship Id="rId3" Target="../media/image110.svg" Type="http://schemas.openxmlformats.org/officeDocument/2006/relationships/image"/><Relationship Id="rId4" Target="../media/image111.png" Type="http://schemas.openxmlformats.org/officeDocument/2006/relationships/image"/><Relationship Id="rId5" Target="../media/image112.svg" Type="http://schemas.openxmlformats.org/officeDocument/2006/relationships/image"/><Relationship Id="rId6" Target="../media/image113.png" Type="http://schemas.openxmlformats.org/officeDocument/2006/relationships/image"/><Relationship Id="rId7" Target="../media/image114.svg" Type="http://schemas.openxmlformats.org/officeDocument/2006/relationships/image"/><Relationship Id="rId8" Target="../media/image115.png" Type="http://schemas.openxmlformats.org/officeDocument/2006/relationships/image"/><Relationship Id="rId9" Target="../media/image11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9F1FF">
                <a:alpha val="100000"/>
              </a:srgbClr>
            </a:gs>
            <a:gs pos="100000">
              <a:srgbClr val="FFEDF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D8B4FE">
              <a:alpha val="15000"/>
            </a:srgbClr>
          </a:solidFill>
          <a:ln cmpd="sng" cap="flat">
            <a:solidFill>
              <a:srgbClr val="B78BE5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0" y="3810000"/>
            <a:ext cx="6350000" cy="6350000"/>
          </a:xfrm>
          <a:prstGeom prst="ellipse">
            <a:avLst/>
          </a:prstGeom>
          <a:solidFill>
            <a:srgbClr val="FBCFE8">
              <a:alpha val="18000"/>
            </a:srgbClr>
          </a:solidFill>
          <a:ln cmpd="sng" cap="flat">
            <a:solidFill>
              <a:srgbClr val="E2A3C7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0" y="635000"/>
            <a:ext cx="2540000" cy="2540000"/>
          </a:xfrm>
          <a:prstGeom prst="ellipse">
            <a:avLst/>
          </a:prstGeom>
          <a:solidFill>
            <a:srgbClr val="A78BFA">
              <a:alpha val="10000"/>
            </a:srgbClr>
          </a:solidFill>
          <a:ln cmpd="sng" cap="flat">
            <a:solidFill>
              <a:srgbClr val="8566E1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5080000"/>
            <a:ext cx="2286000" cy="2286000"/>
          </a:xfrm>
          <a:prstGeom prst="ellipse">
            <a:avLst/>
          </a:prstGeom>
          <a:solidFill>
            <a:srgbClr val="F472B6">
              <a:alpha val="10000"/>
            </a:srgbClr>
          </a:solidFill>
          <a:ln cmpd="sng" cap="flat">
            <a:solidFill>
              <a:srgbClr val="DB5099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2540000"/>
            <a:ext cx="1143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短视频脚本生成器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1459" flipH="false" flipV="false">
            <a:off x="4191011" y="3930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A78BFA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381000" y="4318000"/>
            <a:ext cx="1143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6B46C1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 期末大作业 ——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5588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mpd="sng" cap="flat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70000" y="58166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5715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erif SC"/>
                <a:ea typeface="Noto Serif SC"/>
                <a:cs typeface="Noto Serif SC"/>
                <a:sym typeface="Noto Serif SC"/>
              </a:rPr>
              <a:t>答辩人：黄一茜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0" y="5588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mpd="sng" cap="flat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58166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858000" y="5715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erif SC"/>
                <a:ea typeface="Noto Serif SC"/>
                <a:cs typeface="Noto Serif SC"/>
                <a:sym typeface="Noto Serif SC"/>
              </a:rPr>
              <a:t>汇报日期：2026年06月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DF8FA">
                <a:alpha val="100000"/>
              </a:srgbClr>
            </a:gs>
            <a:gs pos="50000">
              <a:srgbClr val="F5F0F7">
                <a:alpha val="100000"/>
              </a:srgbClr>
            </a:gs>
            <a:gs pos="100000">
              <a:srgbClr val="F0F4FC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目录 CONTENTS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374151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76200" cy="1968500"/>
          </a:xfrm>
          <a:prstGeom prst="roundRect">
            <a:avLst>
              <a:gd name="adj" fmla="val 0"/>
            </a:avLst>
          </a:prstGeom>
          <a:solidFill>
            <a:srgbClr val="F4A2A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98600" y="21844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项目概述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5211" flipH="false" flipV="false">
            <a:off x="10160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984500"/>
            <a:ext cx="2870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阐述项目的开发背景与核心目标，梳理技术选型思路，明确项目建设的价值与意义。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94200" y="2032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94200" y="2032000"/>
            <a:ext cx="76200" cy="1968500"/>
          </a:xfrm>
          <a:prstGeom prst="roundRect">
            <a:avLst>
              <a:gd name="adj" fmla="val 0"/>
            </a:avLst>
          </a:prstGeom>
          <a:solidFill>
            <a:srgbClr val="C4B5F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48200" y="2222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130800" y="21844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需求分析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5211" flipH="false" flipV="false">
            <a:off x="46482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48200" y="2984500"/>
            <a:ext cx="2870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深入调研业务场景，拆解用户核心诉求，明确系统的功能性与非功能性需求指标。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26400" y="2032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26400" y="2032000"/>
            <a:ext cx="76200" cy="1968500"/>
          </a:xfrm>
          <a:prstGeom prst="roundRect">
            <a:avLst>
              <a:gd name="adj" fmla="val 0"/>
            </a:avLst>
          </a:prstGeom>
          <a:solidFill>
            <a:srgbClr val="93C5F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80400" y="2222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763000" y="21844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03. 系统设计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5211" flipH="false" flipV="false">
            <a:off x="82804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280400" y="2984500"/>
            <a:ext cx="2870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构建整体系统架构，设计数据库逻辑模型与核心算法，确保系统的可扩展性与稳定性。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3815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4381500"/>
            <a:ext cx="76200" cy="1905000"/>
          </a:xfrm>
          <a:prstGeom prst="roundRect">
            <a:avLst>
              <a:gd name="adj" fmla="val 0"/>
            </a:avLst>
          </a:prstGeom>
          <a:solidFill>
            <a:srgbClr val="86EFA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5720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498600" y="4533900"/>
            <a:ext cx="4254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04. 系统实现与测试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167" flipH="false" flipV="false">
            <a:off x="1016008" y="5137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1016000" y="5270500"/>
            <a:ext cx="476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完成核心功能模块的代码实现，展示系统实际运行效果，并通过多维度测试验证系统的性能、兼容性与安全性。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286500" y="43815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286500" y="4381500"/>
            <a:ext cx="76200" cy="1905000"/>
          </a:xfrm>
          <a:prstGeom prst="roundRect">
            <a:avLst>
              <a:gd name="adj" fmla="val 0"/>
            </a:avLst>
          </a:prstGeom>
          <a:solidFill>
            <a:srgbClr val="FDBA7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540500" y="4572000"/>
            <a:ext cx="355600" cy="3556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7023100" y="4533900"/>
            <a:ext cx="4254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05. 总结与展望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9167" flipH="false" flipV="false">
            <a:off x="6540508" y="5137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6540500" y="5270500"/>
            <a:ext cx="476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回顾项目整体完成情况，分析实施过程中的经验与不足，规划未来的功能迭代方向与优化策略。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DF8F5">
                <a:alpha val="100000"/>
              </a:srgbClr>
            </a:gs>
            <a:gs pos="100000">
              <a:srgbClr val="F0F4FC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项目概述：背景与目标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457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BEAFE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2032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563"/>
                </a:solidFill>
                <a:latin typeface="Noto Serif SC"/>
                <a:ea typeface="Noto Serif SC"/>
                <a:cs typeface="Noto Serif SC"/>
                <a:sym typeface="Noto Serif SC"/>
              </a:rPr>
              <a:t>行业背景：脚本创作迈入精细化时代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0742" flipH="false" flipV="false">
            <a:off x="1016010" y="25971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E8E7B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7940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短视频行业已从流量红利期转向内容深耕期，“脚本为王”成为行业共识。专业、优质的脚本不再是可选项，而是创作者提升完播率、获取流量的核心刚需。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0742" flipH="false" flipV="false">
            <a:off x="1016010" y="41846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24000" y="4445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563"/>
                </a:solidFill>
                <a:latin typeface="Noto Serif SC"/>
                <a:ea typeface="Noto Serif SC"/>
                <a:cs typeface="Noto Serif SC"/>
                <a:sym typeface="Noto Serif SC"/>
              </a:rPr>
              <a:t>用户痛点：创作困境与工具缺失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953000"/>
            <a:ext cx="406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普通创作者面临门槛高、效率低的双重难题，现有工具存在模板通用性差、功能碎片化、无法系统化管理脚本等问题，难以满足规模化、专业化的创作需求。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5390450" flipH="false" flipV="false">
            <a:off x="3429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5969000" y="1778000"/>
            <a:ext cx="2857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159500" y="1968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604000" y="19685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Web端核心生成器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159500" y="24130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开发轻量化Web应用，无需下载安装，让用户随时随地通过浏览器快速生成专业短视频脚本。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953500" y="1778000"/>
            <a:ext cx="2857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144000" y="19685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588500" y="19685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AI赋能与本地模拟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144000" y="24130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集成先进AI生成模型辅助创作，同时提供本地模拟方案，保障数据安全，兼顾智能与隐私。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969000" y="3365500"/>
            <a:ext cx="2857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159500" y="35560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6604000" y="35560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多场景模板生态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159500" y="4000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覆盖美食、剧情、知识等主流垂类，支持模板的浏览、筛选、收藏及自定义修改，降低创作门槛。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953500" y="3365500"/>
            <a:ext cx="2857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144000" y="35560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9588500" y="35560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云端脚本资产管理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144000" y="4000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实现脚本历史记录的云端同步与存储，支持多设备访问，帮助用户系统化沉淀创作资产。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969000" y="4953000"/>
            <a:ext cx="2857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159500" y="5143500"/>
            <a:ext cx="304800" cy="3048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6604000" y="51435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灵活编辑与多端导出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159500" y="55880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提供在线编辑功能完善脚本细节，支持TXT、PDF、JSON等多种格式导出，适配不同剪辑软件。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953500" y="4953000"/>
            <a:ext cx="2857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9144000" y="5143500"/>
            <a:ext cx="304800" cy="304800"/>
          </a:xfrm>
          <a:prstGeom prst="rect">
            <a:avLst/>
          </a:prstGeom>
        </p:spPr>
      </p:pic>
      <p:sp>
        <p:nvSpPr>
          <p:cNvPr name="AutoShape 35" id="35"/>
          <p:cNvSpPr/>
          <p:nvPr/>
        </p:nvSpPr>
        <p:spPr>
          <a:xfrm rot="0" flipH="false" flipV="false">
            <a:off x="9588500" y="51435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全场景用户服务体系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144000" y="55880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支持游客免登录试用，同时提供完整的注册登录、权益管理功能，满足不同用户的使用需求。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DFAF7">
                <a:alpha val="100000"/>
              </a:srgbClr>
            </a:gs>
            <a:gs pos="100000">
              <a:srgbClr val="F5F0E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项目概述：技术选型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本项目采用前后端分离的轻量化架构，技术选型兼顾开发效率、稳定性与易用性，在保证系统灵活性的同时，大幅降低了开发与维护成本，为用户提供流畅、高效的交互体验。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2597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2921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6D0CA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30861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2984500"/>
            <a:ext cx="4000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前端技术栈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采用原生 HTML5 + CSS3 + JavaScript 开发，减少框架依赖，提升页面加载速度与运行效率，适配多端展示场景。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064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6D0CA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42291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778000" y="4127500"/>
            <a:ext cx="4000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后端核心框架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选用轻量级 Python Flask 框架，路由简洁、扩展性强，能快速构建 RESTful API，满足项目灵活迭代的业务需求。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207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6D0CA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53721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778000" y="5270500"/>
            <a:ext cx="4000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轻量嵌入式数据库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SQLite 作为项目数据库，无需独立服务部署，文件式存储便于迁移与备份，适配项目初期的存储与访问需求。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2921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6D0CA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13500" y="30861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239000" y="2984500"/>
            <a:ext cx="4000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ORM 数据映射框架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集成 SQLAlchemy 作为 ORM 框架，实现数据库操作的对象化管理，降低 SQL 耦合度，提升数据层代码的可读性与维护性。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4064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6D0CA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413500" y="4229100"/>
            <a:ext cx="609600" cy="609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239000" y="4127500"/>
            <a:ext cx="4000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安全认证与加密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JWT 实现无状态的身份认证，结合 bcrypt 算法对用户密码进行哈希加密存储，保障系统数据与用户信息的安全性。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5207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6D0CA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413500" y="5372100"/>
            <a:ext cx="609600" cy="609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239000" y="5270500"/>
            <a:ext cx="4000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响应式 UI 框架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Bootstrap 构建响应式界面，快速实现多终端（PC、平板、手机）的自适应布局，提升开发效率与用户视觉体验。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DF8F5">
                <a:alpha val="100000"/>
              </a:srgbClr>
            </a:gs>
            <a:gs pos="100000">
              <a:srgbClr val="F5F0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016000"/>
            <a:ext cx="3810000" cy="3810000"/>
          </a:xfrm>
          <a:prstGeom prst="ellipse">
            <a:avLst/>
          </a:prstGeom>
          <a:solidFill>
            <a:srgbClr val="E9D5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4826000"/>
            <a:ext cx="3556000" cy="3556000"/>
          </a:xfrm>
          <a:prstGeom prst="ellipse">
            <a:avLst/>
          </a:prstGeom>
          <a:solidFill>
            <a:srgbClr val="FFE4E6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需求分析：功能性需求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52705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9D5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905000"/>
            <a:ext cx="76200" cy="825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1968500"/>
            <a:ext cx="482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用户注册/登录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完成身份验证核心流程：输入账号信息 → 系统安全校验 → 生成JWT身份令牌 → 自动跳转至功能首页，支持游客模式临时访问。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984500"/>
            <a:ext cx="52705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CA5A5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984500"/>
            <a:ext cx="76200" cy="825500"/>
          </a:xfrm>
          <a:prstGeom prst="roundRect">
            <a:avLst>
              <a:gd name="adj" fmla="val 0"/>
            </a:avLst>
          </a:prstGeom>
          <a:solidFill>
            <a:srgbClr val="F472B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048000"/>
            <a:ext cx="482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智能脚本生成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支持双引擎生成模式：用户输入核心参数与场景描述 → 选择AI生成或本地规则模拟 → 实时渲染脚本内容并支持一键预览生成效果。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000500"/>
            <a:ext cx="52705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93C5FD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00500"/>
            <a:ext cx="76200" cy="8255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064000"/>
            <a:ext cx="482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脚本编辑与迭代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提供富文本编辑能力：选中历史脚本或新生成内容 → 在线修改文本与格式 → 自动保存版本记录 → 同步更新最后修改时间戳，支持撤销/重做。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080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DBA74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080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B923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143500"/>
            <a:ext cx="482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脚本管理与模板体系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构建完整的资产管理闭环：历史脚本支持文件夹分类、关键词搜索与批量操作；内置丰富模板库，用户可按场景筛选、预览效果并一键套用或收藏常用模板，大幅降低创作门槛。</a:t>
            </a:r>
          </a:p>
        </p:txBody>
      </p:sp>
      <p:cxnSp>
        <p:nvCxnSpPr>
          <p:cNvPr name="Connector 18" id="18"/>
          <p:cNvCxnSpPr/>
          <p:nvPr/>
        </p:nvCxnSpPr>
        <p:spPr>
          <a:xfrm rot="5390035" flipH="false" flipV="false">
            <a:off x="4159250" y="4089409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604000" y="1905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794500" y="20955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239000" y="2057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用户权限体系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21485" flipH="false" flipV="false">
            <a:off x="6794520" y="2660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78BF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794500" y="2794000"/>
            <a:ext cx="215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完善的身份管理模块，涵盖注册、登录、密码找回，同时支持游客匿名模式体验基础功能，保障用户隐私与访问灵活度。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207500" y="1905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398000" y="2095500"/>
            <a:ext cx="355600" cy="355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9842500" y="2057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多元创作工具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21485" flipH="false" flipV="false">
            <a:off x="9398020" y="2660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472B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9398000" y="2794000"/>
            <a:ext cx="215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集成AI辅助生成与本地规则引擎，支持脚本智能润色、语法检查与内容优化，满足从快速生成到精细打磨的全流程创作需求。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604000" y="4191000"/>
            <a:ext cx="2476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794500" y="4381500"/>
            <a:ext cx="355600" cy="3556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7239000" y="4343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模板与资产管理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21485" flipH="false" flipV="false">
            <a:off x="6794520" y="4946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0A5F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6794500" y="5080000"/>
            <a:ext cx="215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搭建场景化模板资源库，支持分类筛选与一键套用；提供脚本的分类归档、模糊搜索与版本回溯，让资产维护更高效有序。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207500" y="4191000"/>
            <a:ext cx="2476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398000" y="4381500"/>
            <a:ext cx="355600" cy="355600"/>
          </a:xfrm>
          <a:prstGeom prst="rect">
            <a:avLst/>
          </a:prstGeom>
        </p:spPr>
      </p:pic>
      <p:sp>
        <p:nvSpPr>
          <p:cNvPr name="AutoShape 36" id="36"/>
          <p:cNvSpPr/>
          <p:nvPr/>
        </p:nvSpPr>
        <p:spPr>
          <a:xfrm rot="0" flipH="false" flipV="false">
            <a:off x="9842500" y="4343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编辑与多端交付</a:t>
            </a:r>
            <a:endParaRPr lang="en-US" sz="1100"/>
          </a:p>
        </p:txBody>
      </p:sp>
      <p:cxnSp>
        <p:nvCxnSpPr>
          <p:cNvPr name="Connector 37" id="37"/>
          <p:cNvCxnSpPr/>
          <p:nvPr/>
        </p:nvCxnSpPr>
        <p:spPr>
          <a:xfrm rot="-21485" flipH="false" flipV="false">
            <a:off x="9398020" y="4946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B923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8" id="38"/>
          <p:cNvSpPr/>
          <p:nvPr/>
        </p:nvSpPr>
        <p:spPr>
          <a:xfrm rot="0" flipH="false" flipV="false">
            <a:off x="9398000" y="5080000"/>
            <a:ext cx="215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支持富文本在线编辑与格式调整，完成创作后可导出为TXT、PDF等多种格式，适配不同场景的交付与使用需求，提升内容复用性。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5080000" cy="5080000"/>
          </a:xfrm>
          <a:prstGeom prst="ellipse">
            <a:avLst/>
          </a:prstGeom>
          <a:solidFill>
            <a:srgbClr val="E9D5F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4445000" cy="4445000"/>
          </a:xfrm>
          <a:prstGeom prst="ellipse">
            <a:avLst/>
          </a:prstGeom>
          <a:solidFill>
            <a:srgbClr val="BFDBFE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需求分析：非功能性需求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EFF6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47800" y="1930400"/>
            <a:ext cx="2489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性能需求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5211" flipH="false" flipV="false">
            <a:off x="1016014" y="2406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0A5F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2540000"/>
            <a:ext cx="2997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聚焦页面加载速度与脚本生成响应效率，确保系统交互流畅无延迟。量化指标为页面加载时间小于3秒，核心脚本生成响应时间小于10秒。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942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EF2F2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942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F8717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48200" y="1968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080000" y="1930400"/>
            <a:ext cx="2489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安全需求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5211" flipH="false" flipV="false">
            <a:off x="4648214" y="2406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8717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648200" y="2540000"/>
            <a:ext cx="2997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全方位保障用户数据隐私安全，采用bcrypt算法对敏感密码进行加密存储，系统访问统一使用JWT令牌认证机制，严格管控权限。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264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ECFDF5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264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80400" y="1968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712200" y="1930400"/>
            <a:ext cx="2489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兼容性需求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5211" flipH="false" flipV="false">
            <a:off x="8280414" y="2406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4D39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280400" y="2540000"/>
            <a:ext cx="2997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适配多终端与主流浏览器环境，采用响应式布局设计，完美兼容PC端、平板电脑及智能手机，确保用户在不同设备上获得一致的操作体验。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5F3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1447800" y="4343400"/>
            <a:ext cx="4381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可用性需求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9167" flipH="false" flipV="false">
            <a:off x="1016008" y="4819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78BF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1016000" y="4953000"/>
            <a:ext cx="4762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以用户为中心，追求操作流程的简便性与界面的友好度，最大限度降低用户的学习成本。目标是让新手用户在5分钟内快速熟悉并掌握系统的核心功能与操作逻辑。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1595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BEB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1595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FBBF2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413500" y="4381500"/>
            <a:ext cx="304800" cy="3048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6845300" y="4343400"/>
            <a:ext cx="4381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可维护性需求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9167" flipH="false" flipV="false">
            <a:off x="6413508" y="4819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BBF2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6413500" y="4953000"/>
            <a:ext cx="4762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遵循标准化的代码规范进行开发，采用高内聚、低耦合的模块化设计思想，同时配套完善的技术文档与注释，确保系统后续的迭代更新、故障排查与功能扩展能够高效开展。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DFAF7">
                <a:alpha val="100000"/>
              </a:srgbClr>
            </a:gs>
            <a:gs pos="100000">
              <a:srgbClr val="F5F3F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03. 系统设计：系统架构与模块划分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563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/ 经典三层 B/S 架构体系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667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EDD5">
              <a:alpha val="60000"/>
            </a:srgbClr>
          </a:solidFill>
          <a:ln w="12700" cmpd="sng" cap="flat">
            <a:solidFill>
              <a:srgbClr val="FDBA7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28575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8194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431407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用户界面层 (UI Layer)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聚焦页面视觉展示与用户交互体验，统一交互规范，实现多端适配的友好操作界面，为用户提供直观流畅的操作指引。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064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DBEAFE">
              <a:alpha val="60000"/>
            </a:srgbClr>
          </a:solidFill>
          <a:ln w="12700" cmpd="sng" cap="flat">
            <a:solidFill>
              <a:srgbClr val="93C5FD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42545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651000" y="42164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业务逻辑层 (Business Logic Layer)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作为系统核心中枢，负责接收前端请求，解析并执行各类复杂的业务规则与处理流程，保障业务逻辑的完整性与一致性。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334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DCFCE7">
              <a:alpha val="60000"/>
            </a:srgbClr>
          </a:solidFill>
          <a:ln w="12700" cmpd="sng" cap="flat">
            <a:solidFill>
              <a:srgbClr val="86EFAC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55245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54864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数据持久层 (Data Persistence Layer)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专注于数据的安全存储、高效访问与全生命周期管理，封装数据操作细节，为上层业务提供稳定可靠的数据支撑服务。</a:t>
            </a:r>
          </a:p>
        </p:txBody>
      </p:sp>
      <p:cxnSp>
        <p:nvCxnSpPr>
          <p:cNvPr name="Connector 14" id="14"/>
          <p:cNvCxnSpPr/>
          <p:nvPr/>
        </p:nvCxnSpPr>
        <p:spPr>
          <a:xfrm rot="5390581" flipH="false" flipV="false">
            <a:off x="4032250" y="4216409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604000" y="19050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563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 六大核心功能模块划分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2667000"/>
            <a:ext cx="1651000" cy="18415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756400" y="28194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756400" y="3302000"/>
            <a:ext cx="1346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实现用户账号、权限分配及角色管理，保障系统访问的安全性与权限隔离。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82000" y="2667000"/>
            <a:ext cx="1651000" cy="18415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534400" y="28194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534400" y="3302000"/>
            <a:ext cx="1346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脚本生成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基于预设规则自动生成标准脚本代码，降低人工编写成本，提升脚本规范化程度。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033000" y="2667000"/>
            <a:ext cx="1651000" cy="18415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10185400" y="2819400"/>
            <a:ext cx="355600" cy="355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0185400" y="3302000"/>
            <a:ext cx="1346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模板管理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支持脚本模板的新增、编辑、删除与版本控制，为脚本生成提供灵活的基础配置。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604000" y="4699000"/>
            <a:ext cx="1651000" cy="18415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756400" y="4851400"/>
            <a:ext cx="355600" cy="355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6756400" y="5270500"/>
            <a:ext cx="1346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脚本管理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统一管理所有脚本文件的存储、检索与状态维护，支持脚本的批量操作与归档管理。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82000" y="4699000"/>
            <a:ext cx="1651000" cy="18415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8534400" y="4851400"/>
            <a:ext cx="355600" cy="3556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8534400" y="5270500"/>
            <a:ext cx="1346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脚本编辑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提供可视化的脚本在线编辑环境，支持语法高亮、错误提示与实时预览等便捷功能。</a:t>
            </a:r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033000" y="4699000"/>
            <a:ext cx="1651000" cy="18415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10185400" y="4851400"/>
            <a:ext cx="355600" cy="3556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10185400" y="5270500"/>
            <a:ext cx="1346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系统工具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集成日志监控、数据备份、性能分析等辅助工具，保障系统稳定运行与运维效率。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DFBF7">
                <a:alpha val="100000"/>
              </a:srgbClr>
            </a:gs>
            <a:gs pos="100000">
              <a:srgbClr val="F0F4F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03. 系统设计：数据库设计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457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78000" y="2095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B5563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实体关系模型 (ER图)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1089" flipH="false" flipV="false">
            <a:off x="1016010" y="278765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370D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048000"/>
            <a:ext cx="406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系统以用户为核心主体，串联脚本创作、模板管理、文件夹归类及收藏互动四大核心实体。各实体间通过外键关联构建起清晰的一对多与多对多关系网络，保障数据的规范性与业务逻辑的完整性。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50800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通过ER模型抽象业务场景，将用户行为与数据资产结构化存储，为系统的稳定运行与功能扩展提供坚实的数据层支撑。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390177" flipH="false" flipV="false">
            <a:off x="3619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096000" y="1778000"/>
            <a:ext cx="2730500" cy="19050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905000"/>
            <a:ext cx="2476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40AF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/ 用户表 (users)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7629" flipH="false" flipV="false">
            <a:off x="6223016" y="2343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E40A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223000" y="2476500"/>
            <a:ext cx="2476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存储系统用户的基础信息，包含用户唯一标识id、用户名username、注册邮箱email及密码哈希password_hash，确保账号安全与身份认证。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017000" y="1778000"/>
            <a:ext cx="2730500" cy="1905000"/>
          </a:xfrm>
          <a:prstGeom prst="roundRect">
            <a:avLst>
              <a:gd name="adj" fmla="val 0"/>
            </a:avLst>
          </a:prstGeom>
          <a:solidFill>
            <a:srgbClr val="FFF7ED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144000" y="1905000"/>
            <a:ext cx="2476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2410C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 脚本表 (scripts)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7629" flipH="false" flipV="false">
            <a:off x="9144016" y="2343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2410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9144000" y="2476500"/>
            <a:ext cx="2476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记录用户生成的脚本内容，核心字段包含关联用户id、脚本主题topic及具体文本内容script_content，支撑脚本的持久化存储与管理。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096000" y="3937000"/>
            <a:ext cx="2730500" cy="1905000"/>
          </a:xfrm>
          <a:prstGeom prst="roundRect">
            <a:avLst>
              <a:gd name="adj" fmla="val 0"/>
            </a:avLst>
          </a:prstGeom>
          <a:solidFill>
            <a:srgbClr val="ECFDF5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4064000"/>
            <a:ext cx="2476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47857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/ 模板表 (templates)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7629" flipH="false" flipV="false">
            <a:off x="6223016" y="4502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4785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223000" y="4635500"/>
            <a:ext cx="2476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管理系统预设及自定义模板，涵盖模板名称name、分类category、提示词prompt与模板正文content，为脚本生成提供标准化范式。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017000" y="3937000"/>
            <a:ext cx="2730500" cy="1905000"/>
          </a:xfrm>
          <a:prstGeom prst="roundRect">
            <a:avLst>
              <a:gd name="adj" fmla="val 0"/>
            </a:avLst>
          </a:prstGeom>
          <a:solidFill>
            <a:srgbClr val="FAF5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144000" y="4064000"/>
            <a:ext cx="2476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7E22CE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/ 关联与收藏体系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7629" flipH="false" flipV="false">
            <a:off x="9144016" y="4502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E22C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9144000" y="4635500"/>
            <a:ext cx="2476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包含文件夹表(script_folders)实现脚本归类，收藏表(template_favorites)记录用户偏好，通过多表关联完善用户数据资产的个性化管理闭环。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DFBF7">
                <a:alpha val="100000"/>
              </a:srgbClr>
            </a:gs>
            <a:gs pos="100000">
              <a:srgbClr val="F0EDE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03. 系统设计：核心算法设计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05000"/>
            <a:ext cx="3365500" cy="1333500"/>
          </a:xfrm>
          <a:prstGeom prst="roundRect">
            <a:avLst>
              <a:gd name="adj" fmla="val 0"/>
            </a:avLst>
          </a:prstGeom>
          <a:solidFill>
            <a:srgbClr val="EBE7E1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20955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20574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33831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参数解析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4628" flipH="false" flipV="false">
            <a:off x="952514" y="25971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48E5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952500" y="2692400"/>
            <a:ext cx="2984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智能解析用户输入的主题、关键词、视频时长及风格偏好，为脚本生成建立基础框架。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492500"/>
            <a:ext cx="3365500" cy="1333500"/>
          </a:xfrm>
          <a:prstGeom prst="roundRect">
            <a:avLst>
              <a:gd name="adj" fmla="val 0"/>
            </a:avLst>
          </a:prstGeom>
          <a:solidFill>
            <a:srgbClr val="EBE7E1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3683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36449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33831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场景映射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4628" flipH="false" flipV="false">
            <a:off x="952514" y="4184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48E5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952500" y="4279900"/>
            <a:ext cx="2984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基于用户主题匹配预设的优质场景配置库，快速定位契合主题的镜头与叙事方向。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080000"/>
            <a:ext cx="3365500" cy="1333500"/>
          </a:xfrm>
          <a:prstGeom prst="roundRect">
            <a:avLst>
              <a:gd name="adj" fmla="val 0"/>
            </a:avLst>
          </a:prstGeom>
          <a:solidFill>
            <a:srgbClr val="EBE7E1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52705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460500" y="52324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33831"/>
                </a:solidFill>
                <a:latin typeface="Noto Serif SC"/>
                <a:ea typeface="Noto Serif SC"/>
                <a:cs typeface="Noto Serif SC"/>
                <a:sym typeface="Noto Serif SC"/>
              </a:rPr>
              <a:t>03. 风格适配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4628" flipH="false" flipV="false">
            <a:off x="952514" y="57721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48E5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952500" y="5867400"/>
            <a:ext cx="2984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根据用户选择的风格（治愈、动感、沉稳等），智能调整文案的语气、措辞与情感色彩。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390316" flipH="false" flipV="false">
            <a:off x="2190750" y="4152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48E5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4635500" y="1905000"/>
            <a:ext cx="3365500" cy="1333500"/>
          </a:xfrm>
          <a:prstGeom prst="roundRect">
            <a:avLst>
              <a:gd name="adj" fmla="val 0"/>
            </a:avLst>
          </a:prstGeom>
          <a:solidFill>
            <a:srgbClr val="EBE7E1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826000" y="20955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334000" y="20574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33831"/>
                </a:solidFill>
                <a:latin typeface="Noto Serif SC"/>
                <a:ea typeface="Noto Serif SC"/>
                <a:cs typeface="Noto Serif SC"/>
                <a:sym typeface="Noto Serif SC"/>
              </a:rPr>
              <a:t>04. 时长结构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4628" flipH="false" flipV="false">
            <a:off x="4826014" y="25971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48E5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4826000" y="2692400"/>
            <a:ext cx="2984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依据视频时长自动规划镜头数量、转场节奏与叙事结构，保证内容紧凑且张弛有度。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635500" y="3492500"/>
            <a:ext cx="3365500" cy="1333500"/>
          </a:xfrm>
          <a:prstGeom prst="roundRect">
            <a:avLst>
              <a:gd name="adj" fmla="val 0"/>
            </a:avLst>
          </a:prstGeom>
          <a:solidFill>
            <a:srgbClr val="EBE7E1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826000" y="3683000"/>
            <a:ext cx="355600" cy="355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5334000" y="36449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33831"/>
                </a:solidFill>
                <a:latin typeface="Noto Serif SC"/>
                <a:ea typeface="Noto Serif SC"/>
                <a:cs typeface="Noto Serif SC"/>
                <a:sym typeface="Noto Serif SC"/>
              </a:rPr>
              <a:t>05. 字数控制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14628" flipH="false" flipV="false">
            <a:off x="4826014" y="4184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48E5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4826000" y="4279900"/>
            <a:ext cx="2984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结合时长与用户设定，动态计算并调整脚本总字数，使台词时长与画面展示完美匹配。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635500" y="5080000"/>
            <a:ext cx="3365500" cy="1333500"/>
          </a:xfrm>
          <a:prstGeom prst="roundRect">
            <a:avLst>
              <a:gd name="adj" fmla="val 0"/>
            </a:avLst>
          </a:prstGeom>
          <a:solidFill>
            <a:srgbClr val="EBE7E1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4826000" y="5270500"/>
            <a:ext cx="355600" cy="3556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5334000" y="52324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33831"/>
                </a:solidFill>
                <a:latin typeface="Noto Serif SC"/>
                <a:ea typeface="Noto Serif SC"/>
                <a:cs typeface="Noto Serif SC"/>
                <a:sym typeface="Noto Serif SC"/>
              </a:rPr>
              <a:t>06. 脚本组装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14628" flipH="false" flipV="false">
            <a:off x="4826014" y="57721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48E5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4826000" y="5867400"/>
            <a:ext cx="2984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按照分镜脚本的标准格式，自动将各模块内容组装为规范、可直接使用的最终脚本。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318500" y="1905000"/>
            <a:ext cx="3365500" cy="4508500"/>
          </a:xfrm>
          <a:prstGeom prst="roundRect">
            <a:avLst>
              <a:gd name="adj" fmla="val 0"/>
            </a:avLst>
          </a:prstGeom>
          <a:solidFill>
            <a:srgbClr val="E1DDD7">
              <a:alpha val="50000"/>
            </a:srgbClr>
          </a:solidFill>
          <a:ln w="12700" cmpd="sng" cap="flat">
            <a:solidFill>
              <a:srgbClr val="B48E5A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318500" y="1905000"/>
            <a:ext cx="3365500" cy="889000"/>
          </a:xfrm>
          <a:prstGeom prst="roundRect">
            <a:avLst>
              <a:gd name="adj" fmla="val 0"/>
            </a:avLst>
          </a:prstGeom>
          <a:solidFill>
            <a:srgbClr val="B48E5A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509000" y="2095500"/>
            <a:ext cx="406400" cy="406400"/>
          </a:xfrm>
          <a:prstGeom prst="rect">
            <a:avLst/>
          </a:prstGeom>
        </p:spPr>
      </p:pic>
      <p:sp>
        <p:nvSpPr>
          <p:cNvPr name="AutoShape 37" id="37"/>
          <p:cNvSpPr/>
          <p:nvPr/>
        </p:nvSpPr>
        <p:spPr>
          <a:xfrm rot="0" flipH="false" flipV="false">
            <a:off x="9080500" y="20955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33831"/>
                </a:solidFill>
                <a:latin typeface="Noto Serif SC"/>
                <a:ea typeface="Noto Serif SC"/>
                <a:cs typeface="Noto Serif SC"/>
                <a:sym typeface="Noto Serif SC"/>
              </a:rPr>
              <a:t>合规性保障：敏感词检测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509000" y="3175000"/>
            <a:ext cx="298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基于经典字符串匹配算法，构建高效的内容过滤机制。</a:t>
            </a:r>
            <a:endParaRPr lang="en-US" sz="1100"/>
          </a:p>
        </p:txBody>
      </p:sp>
      <p:cxnSp>
        <p:nvCxnSpPr>
          <p:cNvPr name="Connector 39" id="39"/>
          <p:cNvCxnSpPr/>
          <p:nvPr/>
        </p:nvCxnSpPr>
        <p:spPr>
          <a:xfrm rot="-14628" flipH="false" flipV="false">
            <a:off x="8509014" y="4311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48E5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0" id="40"/>
          <p:cNvSpPr/>
          <p:nvPr/>
        </p:nvSpPr>
        <p:spPr>
          <a:xfrm rot="0" flipH="false" flipV="false">
            <a:off x="8509000" y="4572000"/>
            <a:ext cx="2984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遍历预设的敏感词库，对生成的脚本内容进行逐行扫描与匹配，自动识别并拦截违规词汇，确保输出内容合法合规，规避内容风险。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DFAF7">
                <a:alpha val="100000"/>
              </a:srgbClr>
            </a:gs>
            <a:gs pos="100000">
              <a:srgbClr val="F5F0E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EBD8CE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525000" y="4445000"/>
            <a:ext cx="3810000" cy="3810000"/>
          </a:xfrm>
          <a:prstGeom prst="ellipse">
            <a:avLst/>
          </a:prstGeom>
          <a:solidFill>
            <a:srgbClr val="E0E2F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04. 系统实现：核心功能展示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34671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7D3CB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651000" y="2286000"/>
            <a:ext cx="241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智能脚本创作界面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4754" flipH="false" flipV="false">
            <a:off x="1016014" y="3041650"/>
            <a:ext cx="2959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9E92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3302000"/>
            <a:ext cx="29591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采用左右分栏布局，左侧支持用户输入主题关键词、选择视频时长与风格模板；右侧实时渲染AI生成的脚本内容，集成编辑、润色、导出等一键操作，让创作流程流畅直观。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56100" y="2032000"/>
            <a:ext cx="34671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BACCC8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10100" y="22860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245100" y="2286000"/>
            <a:ext cx="241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多分类模板资源库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754" flipH="false" flipV="false">
            <a:off x="4610114" y="3041650"/>
            <a:ext cx="2959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A8A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10100" y="3302000"/>
            <a:ext cx="29591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整合教程、科普、种草等多维度模板分类，以可视化卡片形式陈列展示。用户可快速筛选心仪模板，支持一键预览、套用与收藏，降低创作门槛，提升内容产出效率。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950200" y="2032000"/>
            <a:ext cx="34671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CDCFE2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04200" y="2286000"/>
            <a:ext cx="457200" cy="457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839200" y="2286000"/>
            <a:ext cx="241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全流程创作档案管理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4754" flipH="false" flipV="false">
            <a:off x="8204214" y="3041650"/>
            <a:ext cx="2959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399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204200" y="3302000"/>
            <a:ext cx="29591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提供文件夹层级管理功能，支持脚本内容的分类归档；右侧列表完整展示历史创作记录，涵盖查看、二次编辑、删除及格式导出等功能，妥善留存每一次创意产出。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905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374151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5994400"/>
            <a:ext cx="1016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25C6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系统通过模块化的界面设计，将创作、资源与管理功能有机整合，以极简的交互逻辑，为用户提供沉浸式、高效率的AI脚本生成体验。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AF8F5">
                <a:alpha val="100000"/>
              </a:srgbClr>
            </a:gs>
            <a:gs pos="100000">
              <a:srgbClr val="F3F0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04. 系统测试：测试概述与结果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ECFDF5">
              <a:alpha val="70000"/>
            </a:srgbClr>
          </a:solidFill>
          <a:ln cmpd="sng" cap="flat">
            <a:solidFill>
              <a:srgbClr val="BDE4D2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1968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05000"/>
            <a:ext cx="4254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65F46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核心模块全域覆盖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全面覆盖用户管理、脚本创作、模板库、历史记录及编辑导出五大核心模块，确保系统各关键业务链路均纳入测试视野，无功能遗漏。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365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cmpd="sng" cap="flat">
            <a:solidFill>
              <a:srgbClr val="C0D0E6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3556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3492500"/>
            <a:ext cx="4254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E40AF"/>
                </a:solidFill>
                <a:latin typeface="Noto Serif SC"/>
                <a:ea typeface="Noto Serif SC"/>
                <a:cs typeface="Noto Serif SC"/>
                <a:sym typeface="Noto Serif SC"/>
              </a:rPr>
              <a:t>黑盒测试的全流程校验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采用标准黑盒测试方法，模拟真实用户操作场景，兼顾正常业务流程的顺畅性与各类异常输入、边界条件的容错性，保障系统的鲁棒性。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953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7ED">
              <a:alpha val="70000"/>
            </a:srgbClr>
          </a:solidFill>
          <a:ln cmpd="sng" cap="flat">
            <a:solidFill>
              <a:srgbClr val="E6D4BE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5143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5080000"/>
            <a:ext cx="4254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B45309"/>
                </a:solidFill>
                <a:latin typeface="Noto Serif SC"/>
                <a:ea typeface="Noto Serif SC"/>
                <a:cs typeface="Noto Serif SC"/>
                <a:sym typeface="Noto Serif SC"/>
              </a:rPr>
              <a:t>71个核心用例的精密设计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围绕核心功能点、复杂业务流与关键交互场景，共设计71个针对性测试用例，构建严密的质量验证网络，确保功能实现的准确性与完整性。</a:t>
            </a:r>
          </a:p>
        </p:txBody>
      </p:sp>
      <p:cxnSp>
        <p:nvCxnSpPr>
          <p:cNvPr name="Connector 12" id="12"/>
          <p:cNvCxnSpPr/>
          <p:nvPr/>
        </p:nvCxnSpPr>
        <p:spPr>
          <a:xfrm rot="5390316" flipH="false" flipV="false">
            <a:off x="3968750" y="4025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8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477000" y="1778000"/>
            <a:ext cx="2476500" cy="15875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cmpd="sng" cap="flat">
            <a:solidFill>
              <a:srgbClr val="C1E4CC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1905000"/>
            <a:ext cx="22225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测试用例通过率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600">
                <a:solidFill>
                  <a:srgbClr val="10B981"/>
                </a:solidFill>
                <a:latin typeface="Noto Serif SC"/>
                <a:ea typeface="Noto Serif SC"/>
                <a:cs typeface="Noto Serif SC"/>
                <a:sym typeface="Noto Serif SC"/>
              </a:rPr>
              <a:t>100%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71个用例全部执行并通过，无失败项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080500" y="1778000"/>
            <a:ext cx="2476500" cy="1587500"/>
          </a:xfrm>
          <a:prstGeom prst="roundRect">
            <a:avLst>
              <a:gd name="adj" fmla="val 0"/>
            </a:avLst>
          </a:prstGeom>
          <a:solidFill>
            <a:srgbClr val="EEF2FF">
              <a:alpha val="80000"/>
            </a:srgbClr>
          </a:solidFill>
          <a:ln cmpd="sng" cap="flat">
            <a:solidFill>
              <a:srgbClr val="BFC8E6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207500" y="1905000"/>
            <a:ext cx="22225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核心功能覆盖率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600">
                <a:solidFill>
                  <a:srgbClr val="4F46E5"/>
                </a:solidFill>
                <a:latin typeface="Noto Serif SC"/>
                <a:ea typeface="Noto Serif SC"/>
                <a:cs typeface="Noto Serif SC"/>
                <a:sym typeface="Noto Serif SC"/>
              </a:rPr>
              <a:t>100%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所有规划功能点均完成测试覆盖验证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3683000"/>
            <a:ext cx="508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3873500"/>
            <a:ext cx="1460500" cy="889000"/>
          </a:xfrm>
          <a:prstGeom prst="roundRect">
            <a:avLst>
              <a:gd name="adj" fmla="val 0"/>
            </a:avLst>
          </a:prstGeom>
          <a:solidFill>
            <a:srgbClr val="FEE2E2">
              <a:alpha val="60000"/>
            </a:srgbClr>
          </a:solidFill>
          <a:ln cmpd="sng" cap="flat">
            <a:solidFill>
              <a:srgbClr val="E5B4B4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67500" y="3937000"/>
            <a:ext cx="1333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严重 Bug (2)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涉及核心流程，已优先修复闭环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5000" y="3873500"/>
            <a:ext cx="1460500" cy="889000"/>
          </a:xfrm>
          <a:prstGeom prst="roundRect">
            <a:avLst>
              <a:gd name="adj" fmla="val 0"/>
            </a:avLst>
          </a:prstGeom>
          <a:solidFill>
            <a:srgbClr val="FFEDD5">
              <a:alpha val="60000"/>
            </a:srgbClr>
          </a:solidFill>
          <a:ln cmpd="sng" cap="flat">
            <a:solidFill>
              <a:srgbClr val="E6CBA9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318500" y="3937000"/>
            <a:ext cx="1333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一般 Bug (5)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交互体验优化，不影响功能使用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842500" y="3873500"/>
            <a:ext cx="1524000" cy="889000"/>
          </a:xfrm>
          <a:prstGeom prst="roundRect">
            <a:avLst>
              <a:gd name="adj" fmla="val 0"/>
            </a:avLst>
          </a:prstGeom>
          <a:solidFill>
            <a:srgbClr val="FEF9C3">
              <a:alpha val="60000"/>
            </a:srgbClr>
          </a:solidFill>
          <a:ln cmpd="sng" cap="flat">
            <a:solidFill>
              <a:srgbClr val="E5DE99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906000" y="3937000"/>
            <a:ext cx="139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A8A04"/>
                </a:solidFill>
                <a:latin typeface="Noto Sans SC"/>
                <a:ea typeface="Noto Sans SC"/>
                <a:cs typeface="Noto Sans SC"/>
                <a:sym typeface="Noto Sans SC"/>
              </a:rPr>
              <a:t>轻微 Bug (5)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854D0E"/>
                </a:solidFill>
                <a:latin typeface="Noto Sans SC"/>
                <a:ea typeface="Noto Sans SC"/>
                <a:cs typeface="Noto Sans SC"/>
                <a:sym typeface="Noto Sans SC"/>
              </a:rPr>
              <a:t>UI细节与文案规范类问题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77000" y="52705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3E8FF">
              <a:alpha val="60000"/>
            </a:srgbClr>
          </a:solidFill>
          <a:ln cmpd="sng" cap="flat">
            <a:solidFill>
              <a:srgbClr val="CFBAE6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67500" y="5461000"/>
            <a:ext cx="457200" cy="4572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7239000" y="5397500"/>
            <a:ext cx="4127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6B21A8"/>
                </a:solidFill>
                <a:latin typeface="Noto Serif SC"/>
                <a:ea typeface="Noto Serif SC"/>
                <a:cs typeface="Noto Serif SC"/>
                <a:sym typeface="Noto Serif SC"/>
              </a:rPr>
              <a:t>测试结论：系统功能完整，运行稳定，测试通过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81C87"/>
                </a:solidFill>
                <a:latin typeface="Noto Sans SC"/>
                <a:ea typeface="Noto Sans SC"/>
                <a:cs typeface="Noto Sans SC"/>
                <a:sym typeface="Noto Sans SC"/>
              </a:rPr>
              <a:t>所有缺陷均已修复并通过回归测试，系统满足上线标准，可正式交付使用。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AF5FF">
                <a:alpha val="100000"/>
              </a:srgbClr>
            </a:gs>
            <a:gs pos="100000">
              <a:srgbClr val="F3E8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05. 总结与展望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5C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D28D9"/>
                </a:solidFill>
                <a:latin typeface="Noto Serif SC"/>
                <a:ea typeface="Noto Serif SC"/>
                <a:cs typeface="Noto Serif SC"/>
                <a:sym typeface="Noto Serif SC"/>
              </a:rPr>
              <a:t>▍项目核心目标完成概览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667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2794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70000" y="2768600"/>
            <a:ext cx="190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短视频脚本生成器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成功开发基于Web的核心应用，实现从0到1的产品落地。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92500" y="2667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3619500" y="2794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000500" y="2768600"/>
            <a:ext cx="190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双模式运行机制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完美融合AI生成与本地模拟模式，兼顾效率与灵活调试需求。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937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4064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270000" y="4038600"/>
            <a:ext cx="190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功能完善的模板库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搭建多品类、多风格的脚本模板，降低用户创作门槛。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92500" y="3937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3619500" y="4064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000500" y="4038600"/>
            <a:ext cx="190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云端历史记录管理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实现脚本数据云端存储与同步，保障内容安全与可追溯。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207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5334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270000" y="5308600"/>
            <a:ext cx="190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多格式编辑与导出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支持脚本在线编辑，提供多格式导出，适配不同使用场景。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492500" y="5207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3619500" y="5334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4000500" y="5308600"/>
            <a:ext cx="190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完整用户体系构建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搭建注册、登录、权限管理体系，支撑产品的规模化使用。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5389582" flipH="false" flipV="false">
            <a:off x="41910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5C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540500" y="1905000"/>
            <a:ext cx="520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D28D9"/>
                </a:solidFill>
                <a:latin typeface="Noto Serif SC"/>
                <a:ea typeface="Noto Serif SC"/>
                <a:cs typeface="Noto Serif SC"/>
                <a:sym typeface="Noto Serif SC"/>
              </a:rPr>
              <a:t>▍现存不足与未来优化方向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540500" y="2667000"/>
            <a:ext cx="51435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67500" y="28321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112000" y="27305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补充自动化测试体系：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当前缺乏单元测试覆盖，后续计划引入pytest框架，编写核心功能自动化用例，提升代码稳定性。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540500" y="3556000"/>
            <a:ext cx="51435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667500" y="37211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7112000" y="36195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扩充敏感词风控能力：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现有敏感词库覆盖有限，可引入第三方专业风控服务，或持续迭代自有词库，规避内容合规风险。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540500" y="4445000"/>
            <a:ext cx="51435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67500" y="4610100"/>
            <a:ext cx="304800" cy="3048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7112000" y="45085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丰富专业导出格式：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在现有基础上增加PDF、DOCX等办公常用格式支持，满足用户脚本打印、存档和深度编辑的专业需求。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540500" y="5334000"/>
            <a:ext cx="51435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67500" y="5499100"/>
            <a:ext cx="304800" cy="304800"/>
          </a:xfrm>
          <a:prstGeom prst="rect">
            <a:avLst/>
          </a:prstGeom>
        </p:spPr>
      </p:pic>
      <p:sp>
        <p:nvSpPr>
          <p:cNvPr name="AutoShape 36" id="36"/>
          <p:cNvSpPr/>
          <p:nvPr/>
        </p:nvSpPr>
        <p:spPr>
          <a:xfrm rot="0" flipH="false" flipV="false">
            <a:off x="7112000" y="5397500"/>
            <a:ext cx="444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多模型集成与性能升级：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集成更多主流AI模型丰富生成风格，同时引入缓存机制优化数据库查询，提升系统响应速度与用户体验。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7ED">
                <a:alpha val="100000"/>
              </a:srgbClr>
            </a:gs>
            <a:gs pos="50000">
              <a:srgbClr val="F3E8FF">
                <a:alpha val="100000"/>
              </a:srgbClr>
            </a:gs>
            <a:gs pos="100000">
              <a:srgbClr val="ECFE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FBCFE8">
              <a:alpha val="25000"/>
            </a:srgbClr>
          </a:solidFill>
          <a:ln cmpd="sng" cap="flat">
            <a:solidFill>
              <a:srgbClr val="E2A3C7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0" y="3175000"/>
            <a:ext cx="6350000" cy="6350000"/>
          </a:xfrm>
          <a:prstGeom prst="ellipse">
            <a:avLst/>
          </a:prstGeom>
          <a:solidFill>
            <a:srgbClr val="C4B5FD">
              <a:alpha val="20000"/>
            </a:srgbClr>
          </a:solidFill>
          <a:ln cmpd="sng" cap="flat">
            <a:solidFill>
              <a:srgbClr val="9E8CE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0" y="635000"/>
            <a:ext cx="2540000" cy="2540000"/>
          </a:xfrm>
          <a:prstGeom prst="ellipse">
            <a:avLst/>
          </a:prstGeom>
          <a:solidFill>
            <a:srgbClr val="A5F3FC">
              <a:alpha val="20000"/>
            </a:srgbClr>
          </a:solidFill>
          <a:ln cmpd="sng" cap="flat">
            <a:solidFill>
              <a:srgbClr val="7ED8E3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2794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感谢聆听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4311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374151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826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4B5563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期待与您深入交流，共同探索艺术与设计的无限可能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{"Label":"1","ContentProducer":"001191110102MACQD9K64010000","ProduceID":"7656513730590641337","ReservedCode1":"","ContentPropagator":"","PropagateID":"","ReservedCode2":""}</vt:lpwstr>
  </property>
</Properties>
</file>